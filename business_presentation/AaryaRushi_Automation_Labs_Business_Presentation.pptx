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3401568" cy="493776"/>
            <a:chOff x="0" y="0"/>
            <a:chExt cx="3401568" cy="493776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493776" cy="493776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58368" y="18288"/>
              <a:ext cx="274320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46304" y="146304"/>
              <a:ext cx="201168" cy="201168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89888" y="11155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Office Automation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309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0F172A"/>
                </a:solidFill>
                <a:latin typeface="Poppins"/>
              </a:rPr>
              <a:t>Save Hours of Manual Office Work Every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24612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Inter"/>
              </a:rPr>
              <a:t>Smart Office Automation for Schools, Coaching Institutes and Training Centers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4096512"/>
            <a:ext cx="2331720" cy="49377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Book Free 20-Min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987552"/>
            <a:ext cx="342900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31673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oppins"/>
              </a:rPr>
              <a:t>Automation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66420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Inter"/>
              </a:rPr>
              <a:t>Excel data to ready PDFs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2331720"/>
            <a:ext cx="713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6" y="2578608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2331720"/>
            <a:ext cx="713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6256" y="2578608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2331720"/>
            <a:ext cx="713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656" y="2578608"/>
            <a:ext cx="6766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703320"/>
            <a:ext cx="2331720" cy="29260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3703320"/>
            <a:ext cx="1810512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41605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Inter"/>
              </a:rPr>
              <a:t>300 documents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2449128" cy="355518"/>
            <a:chOff x="0" y="0"/>
            <a:chExt cx="2449128" cy="355518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355518" cy="355518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4024" y="13167"/>
              <a:ext cx="1975104" cy="2765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5338" y="105338"/>
              <a:ext cx="144840" cy="14484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0080" y="896112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Current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Daily office work still consumes hours of staff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53312"/>
            <a:ext cx="3794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09344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Manual office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9202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Repeated typing, formatting and checking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4892040"/>
            <a:ext cx="3026664" cy="109728"/>
          </a:xfrm>
          <a:prstGeom prst="rect">
            <a:avLst/>
          </a:prstGeom>
          <a:solidFill>
            <a:srgbClr val="D9E3F0"/>
          </a:solidFill>
          <a:ln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313432"/>
            <a:ext cx="768096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9288" y="2478024"/>
            <a:ext cx="493776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9288" y="2660904"/>
            <a:ext cx="493776" cy="27432"/>
          </a:xfrm>
          <a:prstGeom prst="rect">
            <a:avLst/>
          </a:prstGeom>
          <a:solidFill>
            <a:srgbClr val="D9E3F0"/>
          </a:solidFill>
          <a:ln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9288" y="2843784"/>
            <a:ext cx="493776" cy="27432"/>
          </a:xfrm>
          <a:prstGeom prst="rect">
            <a:avLst/>
          </a:prstGeom>
          <a:solidFill>
            <a:srgbClr val="D9E3F0"/>
          </a:solidFill>
          <a:ln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2542032"/>
            <a:ext cx="768096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16567" y="2706624"/>
            <a:ext cx="493776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16567" y="2889504"/>
            <a:ext cx="493776" cy="27432"/>
          </a:xfrm>
          <a:prstGeom prst="rect">
            <a:avLst/>
          </a:prstGeom>
          <a:solidFill>
            <a:srgbClr val="D9E3F0"/>
          </a:solidFill>
          <a:ln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16567" y="3072384"/>
            <a:ext cx="493776" cy="27432"/>
          </a:xfrm>
          <a:prstGeom prst="rect">
            <a:avLst/>
          </a:prstGeom>
          <a:solidFill>
            <a:srgbClr val="D9E3F0"/>
          </a:solidFill>
          <a:ln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04120" y="2313432"/>
            <a:ext cx="768096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13848" y="2478024"/>
            <a:ext cx="493776" cy="2743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13848" y="2660904"/>
            <a:ext cx="493776" cy="27432"/>
          </a:xfrm>
          <a:prstGeom prst="rect">
            <a:avLst/>
          </a:prstGeom>
          <a:solidFill>
            <a:srgbClr val="D9E3F0"/>
          </a:solidFill>
          <a:ln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13848" y="2843784"/>
            <a:ext cx="493776" cy="27432"/>
          </a:xfrm>
          <a:prstGeom prst="rect">
            <a:avLst/>
          </a:prstGeom>
          <a:solidFill>
            <a:srgbClr val="D9E3F0"/>
          </a:solidFill>
          <a:ln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2404872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11512" y="2834640"/>
            <a:ext cx="694944" cy="65836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1828800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198424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X</a:t>
            </a:r>
          </a:p>
        </p:txBody>
      </p:sp>
      <p:pic>
        <p:nvPicPr>
          <p:cNvPr id="28" name="Picture 27" descr="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5" y="1938528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91056" y="19933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Certificate creation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67328" y="1828800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13632" y="198424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X</a:t>
            </a:r>
          </a:p>
        </p:txBody>
      </p:sp>
      <p:pic>
        <p:nvPicPr>
          <p:cNvPr id="32" name="Picture 31" descr="work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938528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08576" y="19933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Worksheet preparation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2615184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2770632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X</a:t>
            </a:r>
          </a:p>
        </p:txBody>
      </p:sp>
      <p:pic>
        <p:nvPicPr>
          <p:cNvPr id="36" name="Picture 35" descr="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5" y="2724912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91056" y="277977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Attendance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67328" y="2615184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2770632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X</a:t>
            </a:r>
          </a:p>
        </p:txBody>
      </p:sp>
      <p:pic>
        <p:nvPicPr>
          <p:cNvPr id="40" name="Picture 39" descr="id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2724912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08576" y="277977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ID Cards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3401568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3557015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X</a:t>
            </a:r>
          </a:p>
        </p:txBody>
      </p:sp>
      <p:pic>
        <p:nvPicPr>
          <p:cNvPr id="44" name="Picture 43" descr="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295" y="3511296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591056" y="356616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Result preparation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67328" y="3401568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557015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X</a:t>
            </a:r>
          </a:p>
        </p:txBody>
      </p:sp>
      <p:pic>
        <p:nvPicPr>
          <p:cNvPr id="48" name="Picture 47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816" y="3511296"/>
            <a:ext cx="256032" cy="2560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608576" y="356616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Question papers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" y="4187952"/>
            <a:ext cx="26517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4343400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Inter"/>
              </a:rPr>
              <a:t>X</a:t>
            </a:r>
          </a:p>
        </p:txBody>
      </p:sp>
      <p:pic>
        <p:nvPicPr>
          <p:cNvPr id="52" name="Picture 51" descr="time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5" y="4297680"/>
            <a:ext cx="256032" cy="25603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91056" y="435254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Inter"/>
              </a:rPr>
              <a:t>Timetables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2449128" cy="355518"/>
            <a:chOff x="0" y="0"/>
            <a:chExt cx="2449128" cy="355518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355518" cy="355518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4024" y="13167"/>
              <a:ext cx="1975104" cy="2765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5338" y="105338"/>
              <a:ext cx="144840" cy="14484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0080" y="896112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What We Automate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Ready-made automation systems for common institute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9933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01168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AR-CERT-PRO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8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Generate hundreds of certificates in one click.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ork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93392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02352" y="201168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AR-WORKSHEET-PRO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304288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Generate printable worksheets instantly.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83080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993392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33104" y="201168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AR-QUESTION-PRO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304288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Create question papers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36391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ttend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7" y="3346703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3364991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AR-ATTENDANCE-PRO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657599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Attendance reports.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136391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d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346703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02352" y="3364991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AR-IDCARD-PRO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3657599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Student ID cards.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3136391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esu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3346703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33104" y="3364991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AR-RESULT-PRO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3104" y="3657599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Results and mark sheets.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489704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ime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7" y="4700016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71600" y="47183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AR-TIMETABLE-PRO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010912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Automatic timetable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2449128" cy="355518"/>
            <a:chOff x="0" y="0"/>
            <a:chExt cx="2449128" cy="355518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355518" cy="355518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4024" y="13167"/>
              <a:ext cx="1975104" cy="2765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5338" y="105338"/>
              <a:ext cx="144840" cy="14484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0080" y="896112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A simple office workflow: data in, documents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04288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ork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514600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306324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697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Inter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304288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2514600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0" y="306324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Automation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97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Inter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304288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work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51460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40680" y="306324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697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Inter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304288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ork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251460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80960" y="306324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697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Inter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2304288"/>
            <a:ext cx="1417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68" y="251460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21240" y="306324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31596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Inter"/>
              </a:rPr>
              <a:t>Clean templates keep every output professional, consistent and ready to share.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2449128" cy="355518"/>
            <a:chOff x="0" y="0"/>
            <a:chExt cx="2449128" cy="355518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355518" cy="355518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4024" y="13167"/>
              <a:ext cx="1975104" cy="2765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5338" y="105338"/>
              <a:ext cx="144840" cy="14484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0080" y="896112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Example: 300 Student PDFs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From spreadsheet rows to completed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64208"/>
            <a:ext cx="3108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116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Excel contains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oppins"/>
              </a:rPr>
              <a:t>300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3364992"/>
            <a:ext cx="1371600" cy="4572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Generate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64208"/>
            <a:ext cx="3108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993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Inter"/>
              </a:rPr>
              <a:t>Generating...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4608" y="2596896"/>
            <a:ext cx="2331720" cy="2560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64608" y="2596896"/>
            <a:ext cx="196596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31272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1272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31272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3127248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Inter"/>
              </a:rP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1664208"/>
            <a:ext cx="28803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ork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975104"/>
            <a:ext cx="658368" cy="658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51392" y="28803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F172A"/>
                </a:solidFill>
                <a:latin typeface="Poppins"/>
              </a:rPr>
              <a:t>300 PDFs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352958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Inter"/>
              </a:rPr>
              <a:t>Ready to print, email or archive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2449128" cy="355518"/>
            <a:chOff x="0" y="0"/>
            <a:chExt cx="2449128" cy="355518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355518" cy="355518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4024" y="13167"/>
              <a:ext cx="1975104" cy="2765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5338" y="105338"/>
              <a:ext cx="144840" cy="14484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0080" y="896112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Practical advantages for teams handling repetitive office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066543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360" y="21762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Save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2066543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7800" y="21762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Reduce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066543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78240" y="21762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Professional 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82112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li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3419856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37360" y="352958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One Click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182112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emp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3419856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57800" y="352958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Reusable Templates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182112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ork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3419856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78240" y="352958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Printable PDFs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2449128" cy="355518"/>
            <a:chOff x="0" y="0"/>
            <a:chExt cx="2449128" cy="355518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355518" cy="355518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74024" y="13167"/>
              <a:ext cx="1975104" cy="2765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5338" y="105338"/>
              <a:ext cx="144840" cy="14484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0080" y="896112"/>
            <a:ext cx="7680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oppins"/>
              </a:rPr>
              <a:t>Who Can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Designed for education and training organizations with high document volume.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066543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9072" y="2157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Coaching Institutes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066543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39512" y="2157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Schools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2066543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59952" y="21579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Colleges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82112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3419856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19072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Training Institutes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182112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3419856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9512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HR Teams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182112"/>
            <a:ext cx="2926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3419856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59952" y="3511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oppins"/>
              </a:rPr>
              <a:t>Certification Organizations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0" y="0"/>
            <a:ext cx="3061411" cy="444398"/>
            <a:chOff x="0" y="0"/>
            <a:chExt cx="3061411" cy="444398"/>
          </a:xfrm>
        </p:grpSpPr>
        <p:sp>
          <p:nvSpPr>
            <p:cNvPr id="3" name="Rounded Rectangle 2"/>
            <p:cNvSpPr/>
            <p:nvPr/>
          </p:nvSpPr>
          <p:spPr>
            <a:xfrm>
              <a:off x="0" y="0"/>
              <a:ext cx="444398" cy="444398"/>
            </a:xfrm>
            <a:prstGeom prst="roundRect">
              <a:avLst/>
            </a:prstGeom>
            <a:solidFill>
              <a:srgbClr val="2563EB"/>
            </a:solidFill>
            <a:ln>
              <a:solidFill>
                <a:srgbClr val="2563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92531" y="16459"/>
              <a:ext cx="2468880" cy="3456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600" b="1">
                  <a:solidFill>
                    <a:srgbClr val="0F172A"/>
                  </a:solidFill>
                  <a:latin typeface="Poppins"/>
                </a:rPr>
                <a:t>AaryaRushi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31673" y="131673"/>
              <a:ext cx="181051" cy="181051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41248" y="1691640"/>
            <a:ext cx="6126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Poppins"/>
              </a:rPr>
              <a:t>Free 20-Minute Office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16352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Inter"/>
              </a:rPr>
              <a:t>Book your free consultation and identify the office tasks your team can automate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3703320"/>
            <a:ext cx="2377440" cy="51206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Book Free Consultation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4398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Inter"/>
              </a:rPr>
              <a:t>https://aaryarushi.vercel.app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1572768"/>
            <a:ext cx="26060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3" y="1810512"/>
            <a:ext cx="210312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44439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Inter"/>
              </a:rPr>
              <a:t>Scan to open 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